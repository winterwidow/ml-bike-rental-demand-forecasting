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RMSLE</c:v>
                </c:pt>
              </c:strCache>
            </c:strRef>
          </c:tx>
          <c:spPr>
            <a:solidFill>
              <a:srgbClr val="4DA3F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1F4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XGBoost</c:v>
                  </c:pt>
                  <c:pt idx="1">
                    <c:v>LightGBM</c:v>
                  </c:pt>
                  <c:pt idx="2">
                    <c:v>XGBoost (tuned)</c:v>
                  </c:pt>
                  <c:pt idx="3">
                    <c:v>Random Forest</c:v>
                  </c:pt>
                  <c:pt idx="4">
                    <c:v>Grad. Boosting</c:v>
                  </c:pt>
                  <c:pt idx="5">
                    <c:v>Ridge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0.3079</c:v>
                </c:pt>
                <c:pt idx="1">
                  <c:v>0.3121</c:v>
                </c:pt>
                <c:pt idx="2">
                  <c:v>0.3276</c:v>
                </c:pt>
                <c:pt idx="3">
                  <c:v>0.3701</c:v>
                </c:pt>
                <c:pt idx="4">
                  <c:v>0.3885</c:v>
                </c:pt>
                <c:pt idx="5">
                  <c:v>0.823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F1F4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1F4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2A33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9B4D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1F4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1F4FF"/>
                </a:solidFill>
                <a:latin typeface="Arial"/>
              </a:rPr>
              <a:t>Top 5 features (final XGBoost)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8B7CF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1F4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hour</c:v>
                  </c:pt>
                  <c:pt idx="1">
                    <c:v>is_weekend_daytime</c:v>
                  </c:pt>
                  <c:pt idx="2">
                    <c:v>is_rush_hour</c:v>
                  </c:pt>
                  <c:pt idx="3">
                    <c:v>workingday</c:v>
                  </c:pt>
                  <c:pt idx="4">
                    <c:v>year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0.248</c:v>
                </c:pt>
                <c:pt idx="1">
                  <c:v>0.22</c:v>
                </c:pt>
                <c:pt idx="2">
                  <c:v>0.183</c:v>
                </c:pt>
                <c:pt idx="3">
                  <c:v>0.082</c:v>
                </c:pt>
                <c:pt idx="4">
                  <c:v>0.049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F1F4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1F4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2A33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9B4D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058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Bike Rental Demand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74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demand prediction with tree-based machine learning (XGBoost)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3657600" cy="1417320"/>
          </a:xfrm>
          <a:prstGeom prst="roundRect">
            <a:avLst>
              <a:gd name="adj" fmla="val 7742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2743200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85292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UE24CS352A Machine Learning Mini-Project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&amp; Demonstration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No. 87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2852928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B Divyadharshini (PES2UG24CS252)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Naija Arun Hodigere (PES2UG24CS296)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trying to solve?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754880" cy="3383280"/>
          </a:xfrm>
          <a:prstGeom prst="roundRect">
            <a:avLst>
              <a:gd name="adj" fmla="val 3243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441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438912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number of bikes rented in a given hour for the Capital Bikeshare system in Washington D.C.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date, hour, calendar information and weather. Output: hourly rental count.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too few bikes lose customers, too many raise storage and relocation costs.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94960" y="123444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577840" y="13441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tree models?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1709928"/>
            <a:ext cx="29260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depends non-linearly on hour, temperature and calendar effects.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94960" y="301752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77840" y="31272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3493008"/>
            <a:ext cx="29260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drive demand, and how much better are ensembles than a linear baseline?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Dataset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Bike Sharing Demand (Capital Bikeshare, Washington D.C.)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4358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10,886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10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rows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18872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24358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6,493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1810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rows (no labels)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24358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810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118872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124358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1.24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1810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skewness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377440"/>
            <a:ext cx="4114800" cy="2286000"/>
          </a:xfrm>
          <a:prstGeom prst="roundRect">
            <a:avLst>
              <a:gd name="adj" fmla="val 4800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4871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852928"/>
            <a:ext cx="37490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dates; drop invalid timestamps and duplicates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hour, weekday, rush-hour and weekend flags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bucket; casual and registered excluded (they sum to count)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log(1 + count)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0" y="2377440"/>
            <a:ext cx="3931920" cy="2286000"/>
          </a:xfrm>
          <a:prstGeom prst="roundRect">
            <a:avLst>
              <a:gd name="adj" fmla="val 4800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37760" y="24871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EDA showed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2852928"/>
            <a:ext cx="35661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Peaks at about 8 am and 5-6 pm (commuting)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matters far more than weekday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3 highest, season 1 lowest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Warmer weather raises rentals, humidity lowers them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Approach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records to a deployed forecast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Data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train.csv, 2011-2012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46120" y="123444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Features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calendar and weather features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123444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Split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80 / 20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Models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Ridge, RF, GB, XGBoost, LightGBM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46120" y="246888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2900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Select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Tune, keep best on validation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35040" y="2468880"/>
            <a:ext cx="2606040" cy="1051560"/>
          </a:xfrm>
          <a:prstGeom prst="roundRect">
            <a:avLst>
              <a:gd name="adj" fmla="val 10435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0" y="2606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Deploy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model + Streamlit app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822192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chronological validation?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time-dependent, so a random split would leak the future. We train on the first 8,708 rows and validate on the last 2,178.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Model &amp; Implementation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structure and training setup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743200" cy="3383280"/>
          </a:xfrm>
          <a:prstGeom prst="roundRect">
            <a:avLst>
              <a:gd name="adj" fmla="val 4000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441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37744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(16 after dropping day)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regressor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trees, depth 6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0.05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 0.85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42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log(1 + count)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83280" y="1234440"/>
            <a:ext cx="2468880" cy="3383280"/>
          </a:xfrm>
          <a:prstGeom prst="roundRect">
            <a:avLst>
              <a:gd name="adj" fmla="val 4444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13441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A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1709928"/>
            <a:ext cx="210312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RMSLE (plus RMSE, R2)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Tuning: randomized search, 3 time-ordered folds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fit on all labelled data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1.6.1, XGBoost 3.4.1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123444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344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structure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709928"/>
            <a:ext cx="228600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preprocessing/  loader + features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modeling/  split, metrics, predict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notebooks/  Colab training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  EDA, quick retrain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  Streamlit demo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Results: Model Comparison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validation set (lower RMSLE is better)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88720"/>
          <a:ext cx="42062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34440"/>
          <a:ext cx="3931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777240"/>
                <a:gridCol w="777240"/>
                <a:gridCol w="8229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1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3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1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3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1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35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1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35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1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(final)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1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1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1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25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(tuned)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1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(baseline)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F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E3C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 </a:t>
            </a:r>
            <a:pPr indent="0" marL="0">
              <a:buNone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models beat the linear baseline by a wide margin. Tuning did not help: the tuned XGBoost scored worse, so the untuned model was kept.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What Drives Demand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and error analysis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88720"/>
          <a:ext cx="42976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846320" y="1234440"/>
            <a:ext cx="3840480" cy="1417320"/>
          </a:xfrm>
          <a:prstGeom prst="roundRect">
            <a:avLst>
              <a:gd name="adj" fmla="val 7742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0" y="13441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029200" y="1709928"/>
            <a:ext cx="34747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engineered rush-hour and weekend-daytime flags rank right behind the hour itself. R2 = 0.92 on validation.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846320" y="2788920"/>
            <a:ext cx="3840480" cy="1874520"/>
          </a:xfrm>
          <a:prstGeom prst="roundRect">
            <a:avLst>
              <a:gd name="adj" fmla="val 5854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0" y="28986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029200" y="3264408"/>
            <a:ext cx="34747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Under-predicts above about 600 rentals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errors at rush hours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2011-2012 data; test labels not public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4023360"/>
            <a:ext cx="4206240" cy="640080"/>
          </a:xfrm>
          <a:prstGeom prst="roundRect">
            <a:avLst>
              <a:gd name="adj" fmla="val 17143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4050792"/>
            <a:ext cx="3931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compare with Kaggle scores? Our validation split is the final evaluation.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Live Demonstration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show during the review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603504"/>
          </a:xfrm>
          <a:prstGeom prst="roundRect">
            <a:avLst>
              <a:gd name="adj" fmla="val 18182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53312"/>
            <a:ext cx="365760" cy="365760"/>
          </a:xfrm>
          <a:prstGeom prst="ellipse">
            <a:avLst/>
          </a:prstGeom>
          <a:solidFill>
            <a:srgbClr val="8B7CF6"/>
          </a:solidFill>
          <a:ln w="12700">
            <a:solidFill>
              <a:srgbClr val="8B7C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271016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Streamlit app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interface and the input controls.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47672"/>
            <a:ext cx="8229600" cy="603504"/>
          </a:xfrm>
          <a:prstGeom prst="roundRect">
            <a:avLst>
              <a:gd name="adj" fmla="val 18182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066544"/>
            <a:ext cx="365760" cy="365760"/>
          </a:xfrm>
          <a:prstGeom prst="ellipse">
            <a:avLst/>
          </a:prstGeom>
          <a:solidFill>
            <a:srgbClr val="8B7CF6"/>
          </a:solidFill>
          <a:ln w="12700">
            <a:solidFill>
              <a:srgbClr val="8B7C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066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1984248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date and weather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2012 date, hour, temperature, humidity, wind and weather.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660904"/>
            <a:ext cx="8229600" cy="603504"/>
          </a:xfrm>
          <a:prstGeom prst="roundRect">
            <a:avLst>
              <a:gd name="adj" fmla="val 18182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779776"/>
            <a:ext cx="365760" cy="365760"/>
          </a:xfrm>
          <a:prstGeom prst="ellipse">
            <a:avLst/>
          </a:prstGeom>
          <a:solidFill>
            <a:srgbClr val="8B7CF6"/>
          </a:solidFill>
          <a:ln w="12700">
            <a:solidFill>
              <a:srgbClr val="8B7C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69748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rentals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the button to run the saved XGBoost model.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74136"/>
            <a:ext cx="8229600" cy="603504"/>
          </a:xfrm>
          <a:prstGeom prst="roundRect">
            <a:avLst>
              <a:gd name="adj" fmla="val 18182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493008"/>
            <a:ext cx="365760" cy="365760"/>
          </a:xfrm>
          <a:prstGeom prst="ellipse">
            <a:avLst/>
          </a:prstGeom>
          <a:solidFill>
            <a:srgbClr val="8B7CF6"/>
          </a:solidFill>
          <a:ln w="12700">
            <a:solidFill>
              <a:srgbClr val="8B7C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3410712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scenarios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8 am vs 3 am, and a clear day vs a rainy winter day.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21818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1879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command  </a:t>
            </a:r>
            <a:pPr indent="0" marL="0">
              <a:buNone/>
            </a:pPr>
            <a:r>
              <a:rPr lang="en-US" sz="1300" dirty="0">
                <a:solidFill>
                  <a:srgbClr val="F1F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app/streamlit_app.py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Conclusion &amp; Future 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206240" cy="2926080"/>
          </a:xfrm>
          <a:prstGeom prst="roundRect">
            <a:avLst>
              <a:gd name="adj" fmla="val 3750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441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84048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with calendar-aware features reached RMSLE 0.308 and R2 0.92 on a chronological validation set.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 target, time-ordered validation and a leakage guard gave an honest estimate.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Streamlit app makes the model easy to demonstrate.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234440"/>
            <a:ext cx="3840480" cy="2926080"/>
          </a:xfrm>
          <a:prstGeom prst="roundRect">
            <a:avLst>
              <a:gd name="adj" fmla="val 3750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3441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1709928"/>
            <a:ext cx="347472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and rolling-demand features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interaction features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XGBoost and LightGBM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1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years of 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297680"/>
            <a:ext cx="8229600" cy="411480"/>
          </a:xfrm>
          <a:prstGeom prst="roundRect">
            <a:avLst>
              <a:gd name="adj" fmla="val 26667"/>
            </a:avLst>
          </a:prstGeom>
          <a:solidFill>
            <a:srgbClr val="171E3C"/>
          </a:solidFill>
          <a:ln w="12700">
            <a:solidFill>
              <a:srgbClr val="171E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3159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Du, He &amp; Zhechev, "Forecasting Bike Rental Demand", Stanford CS229 Project, 2014.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Forecasting Bike Rental Demand</dc:title>
  <dc:subject>PptxGenJS Presentation</dc:subject>
  <dc:creator>PptxGenJS</dc:creator>
  <cp:lastModifiedBy>PptxGenJS</cp:lastModifiedBy>
  <cp:revision>1</cp:revision>
  <dcterms:created xsi:type="dcterms:W3CDTF">2026-10-03T12:18:40Z</dcterms:created>
  <dcterms:modified xsi:type="dcterms:W3CDTF">2026-10-03T12:18:40Z</dcterms:modified>
</cp:coreProperties>
</file>