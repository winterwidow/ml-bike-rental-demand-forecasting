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Gantari" panose="020B0604020202020204" charset="0"/>
      <p:regular r:id="rId12"/>
    </p:embeddedFont>
    <p:embeddedFont>
      <p:font typeface="Gantari SemiBold" panose="020B0604020202020204" charset="0"/>
      <p:regular r:id="rId13"/>
    </p:embeddedFont>
    <p:embeddedFont>
      <p:font typeface="Playfair Display" panose="020F0502020204030204" pitchFamily="2" charset="0"/>
      <p:regular r:id="rId14"/>
    </p:embeddedFont>
    <p:embeddedFont>
      <p:font typeface="Playfair Display Bold" panose="020B0604020202020204" charset="0"/>
      <p:regular r:id="rId15"/>
    </p:embeddedFont>
    <p:embeddedFont>
      <p:font typeface="Playfair Display ExtraBold" panose="020B0604020202020204" charset="0"/>
      <p:regular r:id="rId16"/>
    </p:embeddedFont>
    <p:embeddedFont>
      <p:font typeface="Playfair Display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124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344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9D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9D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14952"/>
          </a:xfrm>
          <a:prstGeom prst="rect">
            <a:avLst/>
          </a:pr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3387" y="431800"/>
            <a:ext cx="11658613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84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Forecasting Bike Rental Demand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33387" y="1520397"/>
            <a:ext cx="11058845" cy="85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Hourly demand prediction with tree-based machine learning (XGBoost)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6695" y="2450590"/>
            <a:ext cx="7047283" cy="1968028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6582" y="2583939"/>
            <a:ext cx="289552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80" dirty="0">
                <a:solidFill>
                  <a:srgbClr val="261A45"/>
                </a:solidFill>
                <a:latin typeface="Gantari SemiBold" pitchFamily="34" charset="0"/>
                <a:ea typeface="Gantari SemiBold" pitchFamily="34" charset="-122"/>
                <a:cs typeface="Gantari SemiBold" pitchFamily="34" charset="-120"/>
              </a:rPr>
              <a:t>PROJECT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6582" y="3096669"/>
            <a:ext cx="8189142" cy="1280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UE24CS352A Machine Learning Mini-Project</a:t>
            </a:r>
            <a:endParaRPr lang="en-US" sz="24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Final Review &amp; Demonstration</a:t>
            </a:r>
            <a:endParaRPr lang="en-US" sz="24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Problem No. 87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6695" y="4911304"/>
            <a:ext cx="7047283" cy="1723484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04277" y="5106705"/>
            <a:ext cx="289552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80" dirty="0">
                <a:solidFill>
                  <a:srgbClr val="261A45"/>
                </a:solidFill>
                <a:latin typeface="Gantari SemiBold" pitchFamily="34" charset="0"/>
                <a:ea typeface="Gantari SemiBold" pitchFamily="34" charset="-122"/>
                <a:cs typeface="Gantari SemiBold" pitchFamily="34" charset="-120"/>
              </a:rPr>
              <a:t>TEAM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6582" y="5619606"/>
            <a:ext cx="5963119" cy="100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 B Divyadharshini (PES2UG24CS252)</a:t>
            </a:r>
            <a:endParaRPr lang="en-US" sz="24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Naija Arun Hodigere (PES2UG24CS296)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14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b="1" kern="100" spc="-55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1. 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09585" y="1356320"/>
            <a:ext cx="11582110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are we trying to solve?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585" y="1905099"/>
            <a:ext cx="6222844" cy="4454624"/>
          </a:xfrm>
          <a:prstGeom prst="rect">
            <a:avLst/>
          </a:pr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39776" y="2209899"/>
            <a:ext cx="5562461" cy="46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Goal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39776" y="2841823"/>
            <a:ext cx="5562461" cy="264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spcAft>
                <a:spcPts val="10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 the number of bikes rented in a given hour for the Capital Bikeshare system in Washington D.C.</a:t>
            </a:r>
            <a:endParaRPr lang="en-US" sz="2100" dirty="0"/>
          </a:p>
          <a:p>
            <a:pPr marL="0" indent="0" algn="l">
              <a:lnSpc>
                <a:spcPct val="106000"/>
              </a:lnSpc>
              <a:spcAft>
                <a:spcPts val="105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Inputs: date, hour, calendar information and weather. Output: hourly rental count.</a:t>
            </a:r>
            <a:endParaRPr lang="en-US" sz="21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it matters: too few bikes lose customers, too many raise storage and relocation costs.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7221" y="1905099"/>
            <a:ext cx="4444889" cy="4454624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67413" y="2209899"/>
            <a:ext cx="3784505" cy="46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Why tree models?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467413" y="2841823"/>
            <a:ext cx="3784505" cy="1016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Demand depends non-linearly on hour, temperature and calendar effects.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67413" y="4068068"/>
            <a:ext cx="3784505" cy="46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467413" y="4699992"/>
            <a:ext cx="3784505" cy="1354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21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Which features drive demand, and how much better are ensembles than a linear baseline?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04792" y="6569770"/>
            <a:ext cx="11582110" cy="289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5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2 / 9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C99AC8-9DE8-D232-F2C5-CE7E52C20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328012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b="1" kern="100" spc="-63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2. Dataset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089894" y="609600"/>
            <a:ext cx="649221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Kaggle Bike Sharing Demand (Capital Bikeshare, Washington D.C.)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585" y="1705570"/>
            <a:ext cx="2628834" cy="990501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585" y="1857970"/>
            <a:ext cx="262883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400" dirty="0">
                <a:solidFill>
                  <a:srgbClr val="1D3D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10,886</a:t>
            </a: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training rows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15" y="1705570"/>
            <a:ext cx="2628834" cy="990501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543211" y="1857970"/>
            <a:ext cx="2324042" cy="685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400" dirty="0">
                <a:solidFill>
                  <a:srgbClr val="5E469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6,493</a:t>
            </a: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test rows (no labels)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046" y="1705570"/>
            <a:ext cx="2628834" cy="990501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72046" y="1857970"/>
            <a:ext cx="262883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400" dirty="0">
                <a:solidFill>
                  <a:srgbClr val="5E469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17</a:t>
            </a: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engineered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53276" y="1705570"/>
            <a:ext cx="2628834" cy="990501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953276" y="1857970"/>
            <a:ext cx="262883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400" dirty="0">
                <a:solidFill>
                  <a:srgbClr val="1D3D6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1.24</a:t>
            </a: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target skewness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5" y="2969121"/>
            <a:ext cx="5410065" cy="3078559"/>
          </a:xfrm>
          <a:prstGeom prst="rect">
            <a:avLst/>
          </a:pr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8179" y="3197721"/>
            <a:ext cx="4952876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Preprocessing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8179" y="3945037"/>
            <a:ext cx="4952876" cy="1874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Parse dates; drop invalid timestamps and duplicates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hour, weekday, rush-hour and weekend flags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Temperature bucket; casual and registered excluded (they sum to count)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Train on log(1 + count)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046" y="2969121"/>
            <a:ext cx="5410065" cy="3078559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640" y="3197721"/>
            <a:ext cx="4952876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What the EDA showed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640" y="3945037"/>
            <a:ext cx="4952876" cy="1599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Peaks at about 8 am and 5-6 pm (commuting)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Hour matters far more than weekday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Season 3 highest, season 1 lowest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Warmer weather raises rentals, humidity lowers them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4792" y="6320730"/>
            <a:ext cx="115821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3 / 9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1A807D8-1D5E-7110-50F1-CD29334AF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b="1" kern="100" spc="-63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3. Approach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09585" y="1497905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raw records to a deployed forecast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585" y="2182416"/>
            <a:ext cx="358131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01 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654796"/>
            <a:ext cx="35813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train.csv, 2011-2012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43291" y="2182416"/>
            <a:ext cx="350511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02  Features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43291" y="2654796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17 calendar and weather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0800" y="2182416"/>
            <a:ext cx="358131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03  Split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00800" y="2654796"/>
            <a:ext cx="35813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Chronological 80 / 20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3115766"/>
            <a:ext cx="358131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04  Models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585" y="3588147"/>
            <a:ext cx="35813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Ridge, RF, GB, XGBoost, LightGBM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43291" y="3115766"/>
            <a:ext cx="350511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05  Select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43291" y="3588147"/>
            <a:ext cx="350511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Tune, keep best on validation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0800" y="3115766"/>
            <a:ext cx="358131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06  Deploy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00800" y="3588147"/>
            <a:ext cx="358131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Saved model + Streamlit app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585" y="4169767"/>
            <a:ext cx="10972526" cy="1687711"/>
          </a:xfrm>
          <a:prstGeom prst="roundRect">
            <a:avLst>
              <a:gd name="adj" fmla="val 2709"/>
            </a:avLst>
          </a:prstGeom>
          <a:solidFill>
            <a:srgbClr val="D7E3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377" y="4550767"/>
            <a:ext cx="1036294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Why chronological validation?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Demand is time-dependent, so a random split would leak the future. We train on the first 8,708 rows and validate on the last 2,178.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4792" y="6130528"/>
            <a:ext cx="115821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4 / 9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7B1A6F9-1177-8287-5AB8-EA53FB395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b="1" kern="100" spc="-63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4. Model &amp; Implementation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09585" y="1497905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Code structure and training setup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585" y="2182416"/>
            <a:ext cx="3555911" cy="3124200"/>
          </a:xfrm>
          <a:prstGeom prst="rect">
            <a:avLst/>
          </a:pr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8179" y="2411016"/>
            <a:ext cx="3098722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Final model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38179" y="3158331"/>
            <a:ext cx="3098722" cy="191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Features (16 after dropping day)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XGBoost regressor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500 trees, depth 6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Learning rate 0.05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Subsample 0.85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Seed 42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Predicts log(1 + count)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17892" y="2182416"/>
            <a:ext cx="3555911" cy="3124200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46486" y="2411016"/>
            <a:ext cx="3098722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Training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46486" y="3158331"/>
            <a:ext cx="3098722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Metric: RMSLE (plus RMSE, R2)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Tuning: randomized search, 3 time-ordered folds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Final fit on all labelled data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scikit-learn 1.6.1, XGBoost 3.4.1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26199" y="2182416"/>
            <a:ext cx="3555911" cy="3124200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54793" y="2411016"/>
            <a:ext cx="3098722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Code structure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54793" y="3158331"/>
            <a:ext cx="3098722" cy="1371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preprocessing/  loader + features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modeling/  split, metrics, predict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notebooks/  Colab training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scripts/  EDA, quick retrain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app/  Streamlit demo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4792" y="5579666"/>
            <a:ext cx="115821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5 / 9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0CCE3E-D9DE-A638-3B93-05E7DECD3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13123"/>
            <a:ext cx="6492117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100" spc="-39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5. Results: 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585" y="1569045"/>
            <a:ext cx="6492117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Chronological validation set (lower RMSLE is better)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253999" y="609600"/>
            <a:ext cx="4328111" cy="1587500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996" y="736600"/>
            <a:ext cx="3555911" cy="13335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74305"/>
          <a:ext cx="10972525" cy="2857133"/>
        </p:xfrm>
        <a:graphic>
          <a:graphicData uri="http://schemas.openxmlformats.org/drawingml/2006/table">
            <a:tbl>
              <a:tblPr/>
              <a:tblGrid>
                <a:gridCol w="4388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Model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RMSLE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RMSE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R2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XGBoost (final)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0.3079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60.51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0.9227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LightGBM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0.3121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61.62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0.9198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XGBoost (tuned)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0.3276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71.29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0.8927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Random Forest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0.3701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80.46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0.8633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0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Gradient Boosting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0.3885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95.11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0.8090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7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Ridge (baseline)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0.8230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177.20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61A45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0.3369</a:t>
                      </a:r>
                      <a:endParaRPr lang="en-US" sz="13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184188" marR="184188" marT="101598" marB="101598" anchor="ctr">
                    <a:lnL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5408712"/>
            <a:ext cx="10972526" cy="1062633"/>
          </a:xfrm>
          <a:prstGeom prst="roundRect">
            <a:avLst>
              <a:gd name="adj" fmla="val 3467"/>
            </a:avLst>
          </a:prstGeom>
          <a:solidFill>
            <a:srgbClr val="D7E3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855145" y="5715595"/>
            <a:ext cx="10481405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Observation</a:t>
            </a:r>
            <a:r>
              <a:rPr lang="en-US" sz="1450" dirty="0">
                <a:solidFill>
                  <a:srgbClr val="00000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Tree-based models beat the linear baseline by a wide margin. Tuning did not help: the tuned XGBoost scored worse, so the untuned model was kept.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04792" y="6648549"/>
            <a:ext cx="1158211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6 / 9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6E437D-3C3D-D887-C256-59BF659C8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550" b="1" kern="100" spc="-53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6. What Drives Demand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09585" y="1322784"/>
            <a:ext cx="11582110" cy="321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 importance and error analysis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09585" y="1840309"/>
            <a:ext cx="5333867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Top 5 features (final XGBoost)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415183"/>
            <a:ext cx="4952876" cy="241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48244" y="1840309"/>
            <a:ext cx="5333867" cy="1874540"/>
          </a:xfrm>
          <a:prstGeom prst="rect">
            <a:avLst/>
          </a:pr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00640" y="1992709"/>
            <a:ext cx="5029074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Interpretation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400640" y="2597150"/>
            <a:ext cx="5029074" cy="965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engineered rush-hour and weekend-daytime flags rank right behind the hour itself. R2 = 0.92 on validation.</a:t>
            </a:r>
            <a:endParaRPr lang="en-US" sz="2050" dirty="0"/>
          </a:p>
        </p:txBody>
      </p:sp>
      <p:sp>
        <p:nvSpPr>
          <p:cNvPr id="9" name="Shape 6"/>
          <p:cNvSpPr/>
          <p:nvPr/>
        </p:nvSpPr>
        <p:spPr>
          <a:xfrm>
            <a:off x="6248244" y="3867249"/>
            <a:ext cx="5333867" cy="2305447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640" y="4019649"/>
            <a:ext cx="5029074" cy="447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Limitations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400640" y="4624090"/>
            <a:ext cx="5029074" cy="139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416560" indent="-41656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Under-predicts above about 600 rentals</a:t>
            </a:r>
            <a:endParaRPr lang="en-US" sz="2050" dirty="0"/>
          </a:p>
          <a:p>
            <a:pPr marL="416560" indent="-41656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Largest errors at rush hours</a:t>
            </a:r>
            <a:endParaRPr lang="en-US" sz="2050" dirty="0"/>
          </a:p>
          <a:p>
            <a:pPr marL="416560" indent="-416560" algn="l">
              <a:lnSpc>
                <a:spcPct val="104000"/>
              </a:lnSpc>
              <a:buSzPct val="100000"/>
              <a:buChar char="•"/>
            </a:pPr>
            <a:r>
              <a:rPr lang="en-US" sz="205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Only 2011-2012 data; test labels not public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09585" y="6368455"/>
            <a:ext cx="8656123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Why not compare with Kaggle scores? Our validation split is the final evaluation.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418005" y="6368455"/>
            <a:ext cx="2164105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7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7 / 9</a:t>
            </a: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669CAE-3B0F-A1F8-0122-52AF3346B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87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500" b="1" kern="100" spc="-52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7. Live Demonstration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09585" y="1305917"/>
            <a:ext cx="11582110" cy="313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 will show during the review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2036465"/>
            <a:ext cx="558786" cy="558800"/>
          </a:xfrm>
          <a:custGeom>
            <a:avLst/>
            <a:gdLst/>
            <a:ahLst/>
            <a:cxnLst/>
            <a:rect l="l" t="t" r="r" b="b"/>
            <a:pathLst>
              <a:path w="558786" h="558800">
                <a:moveTo>
                  <a:pt x="0" y="0"/>
                </a:moveTo>
                <a:lnTo>
                  <a:pt x="402326" y="0"/>
                </a:lnTo>
                <a:lnTo>
                  <a:pt x="558786" y="279400"/>
                </a:lnTo>
                <a:lnTo>
                  <a:pt x="402326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2498" y="2176165"/>
            <a:ext cx="7155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566" y="2169815"/>
            <a:ext cx="4495688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Open the Streamlit app</a:t>
            </a:r>
            <a:endParaRPr lang="en-US" sz="20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Show the interface and the input controls.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24442" y="2036465"/>
            <a:ext cx="558786" cy="558800"/>
          </a:xfrm>
          <a:custGeom>
            <a:avLst/>
            <a:gdLst/>
            <a:ahLst/>
            <a:cxnLst/>
            <a:rect l="l" t="t" r="r" b="b"/>
            <a:pathLst>
              <a:path w="558786" h="558800">
                <a:moveTo>
                  <a:pt x="0" y="0"/>
                </a:moveTo>
                <a:lnTo>
                  <a:pt x="402326" y="0"/>
                </a:lnTo>
                <a:lnTo>
                  <a:pt x="558786" y="279400"/>
                </a:lnTo>
                <a:lnTo>
                  <a:pt x="402326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69198" y="2176165"/>
            <a:ext cx="75186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423" y="2169815"/>
            <a:ext cx="4495688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Choose date and weather</a:t>
            </a:r>
            <a:endParaRPr lang="en-US" sz="20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Pick a 2012 date, hour, temperature, humidity, wind and weather.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9585" y="3566716"/>
            <a:ext cx="558786" cy="558800"/>
          </a:xfrm>
          <a:custGeom>
            <a:avLst/>
            <a:gdLst/>
            <a:ahLst/>
            <a:cxnLst/>
            <a:rect l="l" t="t" r="r" b="b"/>
            <a:pathLst>
              <a:path w="558786" h="558800">
                <a:moveTo>
                  <a:pt x="0" y="0"/>
                </a:moveTo>
                <a:lnTo>
                  <a:pt x="402326" y="0"/>
                </a:lnTo>
                <a:lnTo>
                  <a:pt x="558786" y="279400"/>
                </a:lnTo>
                <a:lnTo>
                  <a:pt x="402326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9104" y="3706416"/>
            <a:ext cx="74233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566" y="3700066"/>
            <a:ext cx="4495688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Forecast rentals</a:t>
            </a:r>
            <a:endParaRPr lang="en-US" sz="20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Press the button to run the saved XGBoost model.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24442" y="3566716"/>
            <a:ext cx="558786" cy="558800"/>
          </a:xfrm>
          <a:custGeom>
            <a:avLst/>
            <a:gdLst/>
            <a:ahLst/>
            <a:cxnLst/>
            <a:rect l="l" t="t" r="r" b="b"/>
            <a:pathLst>
              <a:path w="558786" h="558800">
                <a:moveTo>
                  <a:pt x="0" y="0"/>
                </a:moveTo>
                <a:lnTo>
                  <a:pt x="402326" y="0"/>
                </a:lnTo>
                <a:lnTo>
                  <a:pt x="558786" y="279400"/>
                </a:lnTo>
                <a:lnTo>
                  <a:pt x="402326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68206" y="3706416"/>
            <a:ext cx="75384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86423" y="3700066"/>
            <a:ext cx="4495688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Compare scenarios</a:t>
            </a:r>
            <a:endParaRPr lang="en-US" sz="20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20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Summer 8 am vs 3 am, and a clear day vs a rainy winter day.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9585" y="4868366"/>
            <a:ext cx="10972526" cy="1530251"/>
          </a:xfrm>
          <a:custGeom>
            <a:avLst/>
            <a:gdLst/>
            <a:ahLst/>
            <a:cxnLst/>
            <a:rect l="l" t="t" r="r" b="b"/>
            <a:pathLst>
              <a:path w="10972526" h="1530251">
                <a:moveTo>
                  <a:pt x="0" y="0"/>
                </a:moveTo>
                <a:lnTo>
                  <a:pt x="10972526" y="0"/>
                </a:lnTo>
                <a:lnTo>
                  <a:pt x="10972526" y="1504851"/>
                </a:lnTo>
                <a:arcTo wR="25399" hR="25400" stAng="0" swAng="5400000"/>
                <a:lnTo>
                  <a:pt x="25399" y="1530251"/>
                </a:lnTo>
                <a:arcTo wR="25399" hR="25400" stAng="5400000" swAng="5400000"/>
                <a:lnTo>
                  <a:pt x="0" y="0"/>
                </a:lnTo>
                <a:close/>
              </a:path>
            </a:pathLst>
          </a:cu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8179" y="5096966"/>
            <a:ext cx="558786" cy="558800"/>
          </a:xfrm>
          <a:custGeom>
            <a:avLst/>
            <a:gdLst/>
            <a:ahLst/>
            <a:cxnLst/>
            <a:rect l="l" t="t" r="r" b="b"/>
            <a:pathLst>
              <a:path w="558786" h="558800">
                <a:moveTo>
                  <a:pt x="0" y="0"/>
                </a:moveTo>
                <a:lnTo>
                  <a:pt x="402326" y="0"/>
                </a:lnTo>
                <a:lnTo>
                  <a:pt x="558786" y="279400"/>
                </a:lnTo>
                <a:lnTo>
                  <a:pt x="402326" y="558800"/>
                </a:lnTo>
                <a:lnTo>
                  <a:pt x="0" y="558800"/>
                </a:lnTo>
                <a:close/>
              </a:path>
            </a:pathLst>
          </a:cu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91865" y="5236666"/>
            <a:ext cx="73400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160" y="5230316"/>
            <a:ext cx="9981950" cy="313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Demo command</a:t>
            </a:r>
            <a:r>
              <a:rPr lang="en-US" sz="20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  streamlit run app/streamlit_app.py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4792" y="6587331"/>
            <a:ext cx="11582110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5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8 / 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089498" y="1807865"/>
            <a:ext cx="12700" cy="1530251"/>
          </a:xfrm>
          <a:prstGeom prst="rect">
            <a:avLst/>
          </a:prstGeom>
          <a:solidFill>
            <a:srgbClr val="A99F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9585" y="3331766"/>
            <a:ext cx="5486263" cy="12700"/>
          </a:xfrm>
          <a:prstGeom prst="rect">
            <a:avLst/>
          </a:prstGeom>
          <a:solidFill>
            <a:srgbClr val="A99F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89498" y="3338116"/>
            <a:ext cx="12700" cy="1530251"/>
          </a:xfrm>
          <a:prstGeom prst="rect">
            <a:avLst/>
          </a:prstGeom>
          <a:solidFill>
            <a:srgbClr val="A99F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095848" y="3331766"/>
            <a:ext cx="5486263" cy="12700"/>
          </a:xfrm>
          <a:prstGeom prst="rect">
            <a:avLst/>
          </a:prstGeom>
          <a:solidFill>
            <a:srgbClr val="A99F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9585" y="4862016"/>
            <a:ext cx="10972526" cy="12700"/>
          </a:xfrm>
          <a:prstGeom prst="rect">
            <a:avLst/>
          </a:prstGeom>
          <a:solidFill>
            <a:srgbClr val="A99FC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348EBB-8904-6B3B-E314-90BFA4E95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b="1" kern="100" spc="-63" dirty="0">
                <a:solidFill>
                  <a:srgbClr val="261A4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8. Conclusion &amp; Future 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09585" y="1497905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 learned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585" y="2182416"/>
            <a:ext cx="5410065" cy="3808016"/>
          </a:xfrm>
          <a:prstGeom prst="rect">
            <a:avLst/>
          </a:prstGeom>
          <a:solidFill>
            <a:srgbClr val="1D3D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780" y="2334816"/>
            <a:ext cx="5003675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12780" y="3082131"/>
            <a:ext cx="5003675" cy="275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XGBoost with calendar-aware features reached RMSLE 0.308 and R2 0.92 on a chronological validation set.</a:t>
            </a:r>
            <a:endParaRPr lang="en-US" sz="2000" dirty="0"/>
          </a:p>
          <a:p>
            <a:pPr marL="0" indent="0" algn="l">
              <a:lnSpc>
                <a:spcPct val="112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log target, time-ordered validation and a leakage guard gave an honest estimate.</a:t>
            </a:r>
            <a:endParaRPr lang="en-US" sz="2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Streamlit app makes the model easy to demonstrate.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046" y="2182416"/>
            <a:ext cx="5410065" cy="3808016"/>
          </a:xfrm>
          <a:prstGeom prst="rect">
            <a:avLst/>
          </a:prstGeom>
          <a:solidFill>
            <a:srgbClr val="E6E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75241" y="2334816"/>
            <a:ext cx="5003675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261A45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75241" y="3082131"/>
            <a:ext cx="5003675" cy="2285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Lag and rolling-demand features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Weather interaction features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Ensemble of XGBoost and LightGBM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261A4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More years of data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9585" y="6263481"/>
            <a:ext cx="973807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Reference: Du, He &amp; Zhechev, "Forecasting Bike Rental Demand", Stanford CS229 Project, 2014.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499958" y="6263481"/>
            <a:ext cx="108215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2000" dirty="0">
                <a:solidFill>
                  <a:srgbClr val="483E68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9 / 9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6B099E-FDCA-7922-96E7-D5E708EC2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817" y="6562926"/>
            <a:ext cx="1386558" cy="231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798</Words>
  <Application>Microsoft Office PowerPoint</Application>
  <PresentationFormat>Widescreen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Playfair Display Bold</vt:lpstr>
      <vt:lpstr>Gantari</vt:lpstr>
      <vt:lpstr>Gantari SemiBold</vt:lpstr>
      <vt:lpstr>Playfair Display</vt:lpstr>
      <vt:lpstr>Playfair Display ExtraBold</vt:lpstr>
      <vt:lpstr>Playfair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Naija Hodigere</cp:lastModifiedBy>
  <cp:revision>2</cp:revision>
  <dcterms:created xsi:type="dcterms:W3CDTF">2026-10-06T05:01:40Z</dcterms:created>
  <dcterms:modified xsi:type="dcterms:W3CDTF">2026-10-06T07:03:51Z</dcterms:modified>
</cp:coreProperties>
</file>